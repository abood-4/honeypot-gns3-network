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5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نمط متوسط 3 - تميي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2:51:41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 24233,'4637'0'0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2:51:50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0 446 23688,'54'-446'0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2:51:56.1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4874 0 24469,'-4873'0'0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2:52:15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1 24575,'-13'0'0,"3"0"0,0 0 0,1 0 0,-1 1 0,0 0 0,0 1 0,-13 3 0,21-4 0,-1 0 0,1 1 0,-1-1 0,1 1 0,0-1 0,0 1 0,0 0 0,0 0 0,0-1 0,0 2 0,0-1 0,1 0 0,-1 0 0,1 0 0,0 1 0,-1-1 0,1 1 0,0-1 0,0 1 0,1-1 0,-1 1 0,0 0 0,1-1 0,0 1 0,-1 0 0,1-1 0,0 1 0,1 3 0,-1-1 0,1 0 0,-1 1 0,1-1 0,1 0 0,-1 0 0,1 0 0,-1 0 0,2 0 0,-1 0 0,0-1 0,1 1 0,0-1 0,5 6 0,-2-2 0,0-1 0,1-1 0,0 0 0,0 1 0,1-2 0,12 9 0,-16-12 0,0 1 0,-1 0 0,0 0 0,0 0 0,0 0 0,0 0 0,0 1 0,0 0 0,-1-1 0,0 1 0,0 0 0,0 0 0,2 8 0,-3-9 0,0 0 0,0 0 0,1 1 0,-1-1 0,1 0 0,-1 0 0,1 0 0,0-1 0,0 1 0,0 0 0,1-1 0,-1 1 0,1-1 0,-1 0 0,1 0 0,0 0 0,0 0 0,0 0 0,0-1 0,0 1 0,0-1 0,6 2 0,-1-1-114,0 0 1,0 1-1,-1-1 0,1 2 0,-1-1 1,1 1-1,-1 0 0,0 1 0,-1-1 1,1 1-1,7 8 0,-8-8-6712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2:52:31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10769252-8C81-427F-933D-6CC63BDE04BE}" type="datetimeFigureOut">
              <a:rPr lang="LID4096" smtClean="0"/>
              <a:t>04/19/2026</a:t>
            </a:fld>
            <a:endParaRPr lang="LID4096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LID4096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LID4096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74D12278-23A2-4CA3-A45F-98B8F5EAA2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3851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92AD9-417A-4D75-9382-30E8E1161F12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F4E-125F-454F-AA3F-C2602949E3D5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E7A2-AD4A-4AA9-A150-C788E5B854D7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1DC2-2B30-4837-94D3-58DF557462CB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6A94-6D4E-4799-8335-CFCB9FBACF28}" type="datetime1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44BF-AAB5-46A9-A67F-B585DD680D0F}" type="datetime1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5EAF5-DF40-4F1D-B997-C434FC579A6B}" type="datetime1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BC7D3-9849-4CEA-B034-EA0AF30BA8A6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B6E6-2738-4DFC-A474-4B49CD398EA4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7A42-3F4F-460C-981D-5B36DC35CEBA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1A87-8DEC-49D5-88A7-C4D1D4F6B188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B03A1-FA05-4418-94FA-2DEAB3E72A88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customXml" Target="../ink/ink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772400" cy="1470025"/>
          </a:xfrm>
        </p:spPr>
        <p:txBody>
          <a:bodyPr/>
          <a:lstStyle/>
          <a:p>
            <a:r>
              <a:rPr lang="en-US" sz="4320" b="1" dirty="0">
                <a:solidFill>
                  <a:srgbClr val="003366"/>
                </a:solidFill>
              </a:rPr>
              <a:t>Honeypot Network System</a:t>
            </a:r>
            <a:endParaRPr sz="4320" b="1" dirty="0">
              <a:solidFill>
                <a:srgbClr val="003366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00157"/>
            <a:ext cx="6400800" cy="2477645"/>
          </a:xfrm>
        </p:spPr>
        <p:txBody>
          <a:bodyPr/>
          <a:lstStyle/>
          <a:p>
            <a:r>
              <a:rPr lang="en-US" sz="2160" dirty="0">
                <a:solidFill>
                  <a:schemeClr val="accent1">
                    <a:lumMod val="50000"/>
                  </a:schemeClr>
                </a:solidFill>
              </a:rPr>
              <a:t>By:</a:t>
            </a:r>
          </a:p>
          <a:p>
            <a:r>
              <a:rPr lang="en-US" sz="2160" dirty="0">
                <a:solidFill>
                  <a:schemeClr val="accent1">
                    <a:lumMod val="50000"/>
                  </a:schemeClr>
                </a:solidFill>
              </a:rPr>
              <a:t>Abdulrahman </a:t>
            </a:r>
            <a:r>
              <a:rPr lang="en-US" sz="2160" dirty="0" err="1">
                <a:solidFill>
                  <a:schemeClr val="accent1">
                    <a:lumMod val="50000"/>
                  </a:schemeClr>
                </a:solidFill>
              </a:rPr>
              <a:t>abu</a:t>
            </a:r>
            <a:r>
              <a:rPr lang="en-US" sz="2160" dirty="0">
                <a:solidFill>
                  <a:schemeClr val="accent1">
                    <a:lumMod val="50000"/>
                  </a:schemeClr>
                </a:solidFill>
              </a:rPr>
              <a:t> Laila </a:t>
            </a:r>
          </a:p>
          <a:p>
            <a:r>
              <a:rPr lang="en-US" sz="2160" dirty="0">
                <a:solidFill>
                  <a:schemeClr val="accent1">
                    <a:lumMod val="50000"/>
                  </a:schemeClr>
                </a:solidFill>
              </a:rPr>
              <a:t>Supervisor:</a:t>
            </a:r>
          </a:p>
          <a:p>
            <a:r>
              <a:rPr lang="en-US" sz="2160" dirty="0" err="1">
                <a:solidFill>
                  <a:schemeClr val="accent1">
                    <a:lumMod val="50000"/>
                  </a:schemeClr>
                </a:solidFill>
              </a:rPr>
              <a:t>Dr.Jehad</a:t>
            </a:r>
            <a:r>
              <a:rPr lang="en-US" sz="216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160" dirty="0" err="1">
                <a:solidFill>
                  <a:schemeClr val="accent1">
                    <a:lumMod val="50000"/>
                  </a:schemeClr>
                </a:solidFill>
              </a:rPr>
              <a:t>hamamreh</a:t>
            </a:r>
            <a:endParaRPr lang="en-US" sz="216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216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160" dirty="0">
                <a:solidFill>
                  <a:schemeClr val="accent1">
                    <a:lumMod val="50000"/>
                  </a:schemeClr>
                </a:solidFill>
              </a:rPr>
              <a:t>An-Najah National University</a:t>
            </a:r>
          </a:p>
          <a:p>
            <a:endParaRPr lang="en-US" sz="2160" dirty="0">
              <a:solidFill>
                <a:schemeClr val="accent1">
                  <a:lumMod val="50000"/>
                </a:schemeClr>
              </a:solidFill>
            </a:endParaRPr>
          </a:p>
          <a:p>
            <a:endParaRPr sz="216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FD715E5-298E-661C-63E2-C7273326F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74FB8E70-0C05-EAC7-4FFC-6D5AA03D3B39}"/>
              </a:ext>
            </a:extLst>
          </p:cNvPr>
          <p:cNvSpPr txBox="1"/>
          <p:nvPr/>
        </p:nvSpPr>
        <p:spPr>
          <a:xfrm>
            <a:off x="1977886" y="2655173"/>
            <a:ext cx="5794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Cybersecurity Project | Computer Networks | GNS3</a:t>
            </a:r>
            <a:endParaRPr lang="LID4096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4C596E1F-4A17-EF90-B34D-D83A5102C56B}"/>
              </a:ext>
            </a:extLst>
          </p:cNvPr>
          <p:cNvSpPr/>
          <p:nvPr/>
        </p:nvSpPr>
        <p:spPr>
          <a:xfrm>
            <a:off x="1674743" y="2236304"/>
            <a:ext cx="5774634" cy="695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968DE054-C74C-13F6-B3DD-C68D405E3E93}"/>
              </a:ext>
            </a:extLst>
          </p:cNvPr>
          <p:cNvSpPr/>
          <p:nvPr/>
        </p:nvSpPr>
        <p:spPr>
          <a:xfrm>
            <a:off x="2604052" y="3429000"/>
            <a:ext cx="3949148" cy="457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475B7A8-942C-FBD8-02E3-853AB87C5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D7101EA5-C5F7-6C73-4760-A76589896859}"/>
              </a:ext>
            </a:extLst>
          </p:cNvPr>
          <p:cNvSpPr txBox="1"/>
          <p:nvPr/>
        </p:nvSpPr>
        <p:spPr>
          <a:xfrm>
            <a:off x="1828800" y="643095"/>
            <a:ext cx="60692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What is Honeypot?</a:t>
            </a:r>
            <a:endParaRPr lang="LID4096" sz="4000" dirty="0"/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16F778B8-A0A6-9915-467B-5B90B1A9C4EB}"/>
              </a:ext>
            </a:extLst>
          </p:cNvPr>
          <p:cNvSpPr txBox="1"/>
          <p:nvPr/>
        </p:nvSpPr>
        <p:spPr>
          <a:xfrm>
            <a:off x="303124" y="3748370"/>
            <a:ext cx="23513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How it works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:</a:t>
            </a:r>
            <a:endParaRPr lang="LID4096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مربع نص 21">
            <a:extLst>
              <a:ext uri="{FF2B5EF4-FFF2-40B4-BE49-F238E27FC236}">
                <a16:creationId xmlns:a16="http://schemas.microsoft.com/office/drawing/2014/main" id="{B2F0DBB4-E65A-0C0F-4376-99B25C820656}"/>
              </a:ext>
            </a:extLst>
          </p:cNvPr>
          <p:cNvSpPr txBox="1"/>
          <p:nvPr/>
        </p:nvSpPr>
        <p:spPr>
          <a:xfrm>
            <a:off x="150725" y="2361363"/>
            <a:ext cx="85360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Honeypot is a decoy system intentionally designed to look like a real target to lure attackers.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records every action the attacker performs — without exposing real assets.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Microsoft, Cisco, financial institutions, government agencies.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23A50972-C954-11F8-1974-270DE45D8E60}"/>
              </a:ext>
            </a:extLst>
          </p:cNvPr>
          <p:cNvSpPr txBox="1"/>
          <p:nvPr/>
        </p:nvSpPr>
        <p:spPr>
          <a:xfrm>
            <a:off x="303125" y="2011345"/>
            <a:ext cx="23513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Definition: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مربع نص 23">
            <a:extLst>
              <a:ext uri="{FF2B5EF4-FFF2-40B4-BE49-F238E27FC236}">
                <a16:creationId xmlns:a16="http://schemas.microsoft.com/office/drawing/2014/main" id="{224CA06B-3F01-992D-FAE7-45E67CFDA6D4}"/>
              </a:ext>
            </a:extLst>
          </p:cNvPr>
          <p:cNvSpPr txBox="1"/>
          <p:nvPr/>
        </p:nvSpPr>
        <p:spPr>
          <a:xfrm>
            <a:off x="150724" y="4135700"/>
            <a:ext cx="85360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Attacker scans the network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Finds an easy-looking target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Connects to the Honeypot 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Every action is logged silently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Real Server stays untouched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BCA813B-A360-6129-C3D7-B650D9DD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C1096923-FB14-39F6-A3D8-049C932AC59B}"/>
              </a:ext>
            </a:extLst>
          </p:cNvPr>
          <p:cNvSpPr txBox="1"/>
          <p:nvPr/>
        </p:nvSpPr>
        <p:spPr>
          <a:xfrm>
            <a:off x="1286189" y="572756"/>
            <a:ext cx="61495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Main Goals of the Honeypot</a:t>
            </a:r>
            <a:endParaRPr lang="LID4096" sz="4000" dirty="0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99288D5F-05AA-CEBD-7115-9D94B611DBD6}"/>
              </a:ext>
            </a:extLst>
          </p:cNvPr>
          <p:cNvSpPr txBox="1"/>
          <p:nvPr/>
        </p:nvSpPr>
        <p:spPr>
          <a:xfrm>
            <a:off x="190919" y="1597688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Continuous Traffic Capture: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B0234D41-22D8-6DFB-DF90-4110467CFDC7}"/>
              </a:ext>
            </a:extLst>
          </p:cNvPr>
          <p:cNvSpPr txBox="1"/>
          <p:nvPr/>
        </p:nvSpPr>
        <p:spPr>
          <a:xfrm>
            <a:off x="190918" y="2076213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Logging all incoming network requests and packets directed at the isolated honeypot environment.</a:t>
            </a:r>
            <a:endParaRPr lang="LID4096" dirty="0"/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89BF74D0-9935-D307-7EEB-2D6BE443D526}"/>
              </a:ext>
            </a:extLst>
          </p:cNvPr>
          <p:cNvSpPr txBox="1"/>
          <p:nvPr/>
        </p:nvSpPr>
        <p:spPr>
          <a:xfrm>
            <a:off x="190917" y="2780713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Threat Behavior Profiling: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15098CA9-2E39-51A4-AFE2-6B8810CE7786}"/>
              </a:ext>
            </a:extLst>
          </p:cNvPr>
          <p:cNvSpPr txBox="1"/>
          <p:nvPr/>
        </p:nvSpPr>
        <p:spPr>
          <a:xfrm>
            <a:off x="190919" y="3261795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Analyzing attacker techniques, such as port scanning, SSH brute-force attempts, and service exploitation.</a:t>
            </a:r>
            <a:endParaRPr lang="LID4096" dirty="0"/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1A0EF70D-AED7-DDE4-348D-A2A2C231EF33}"/>
              </a:ext>
            </a:extLst>
          </p:cNvPr>
          <p:cNvSpPr txBox="1"/>
          <p:nvPr/>
        </p:nvSpPr>
        <p:spPr>
          <a:xfrm>
            <a:off x="190916" y="3963738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Intelligence Gathering: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مربع نص 18">
            <a:extLst>
              <a:ext uri="{FF2B5EF4-FFF2-40B4-BE49-F238E27FC236}">
                <a16:creationId xmlns:a16="http://schemas.microsoft.com/office/drawing/2014/main" id="{A9429C6C-852A-C85E-1445-6A1E6B9A323F}"/>
              </a:ext>
            </a:extLst>
          </p:cNvPr>
          <p:cNvSpPr txBox="1"/>
          <p:nvPr/>
        </p:nvSpPr>
        <p:spPr>
          <a:xfrm>
            <a:off x="236637" y="4419460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Collecting actionable security data, including attacker source IP addresses, timestamps, and targeted ports.</a:t>
            </a:r>
            <a:endParaRPr lang="LID4096" dirty="0"/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AAFF5912-4F75-8753-F40F-13497C407B0D}"/>
              </a:ext>
            </a:extLst>
          </p:cNvPr>
          <p:cNvSpPr txBox="1"/>
          <p:nvPr/>
        </p:nvSpPr>
        <p:spPr>
          <a:xfrm>
            <a:off x="236636" y="5121403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Log Review: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2" name="مربع نص 21">
            <a:extLst>
              <a:ext uri="{FF2B5EF4-FFF2-40B4-BE49-F238E27FC236}">
                <a16:creationId xmlns:a16="http://schemas.microsoft.com/office/drawing/2014/main" id="{74692490-C70C-85FC-121C-61FE4B507916}"/>
              </a:ext>
            </a:extLst>
          </p:cNvPr>
          <p:cNvSpPr txBox="1"/>
          <p:nvPr/>
        </p:nvSpPr>
        <p:spPr>
          <a:xfrm>
            <a:off x="236635" y="5597151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Producing and reviewing detailed system and firewall logs to understand the attack lifecycle without risking the actual network.</a:t>
            </a:r>
            <a:endParaRPr lang="LID409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EC8DCC5-9C5E-8FB2-5383-0CF016C8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7FE1D8AA-AA1C-3095-565C-39C2B986B5BF}"/>
              </a:ext>
            </a:extLst>
          </p:cNvPr>
          <p:cNvSpPr txBox="1"/>
          <p:nvPr/>
        </p:nvSpPr>
        <p:spPr>
          <a:xfrm>
            <a:off x="1286189" y="572756"/>
            <a:ext cx="61495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Tools and Technologies Used</a:t>
            </a:r>
            <a:endParaRPr lang="LID4096" sz="4000" dirty="0"/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E53B31C2-E289-2785-08C6-C12C2D4E7832}"/>
              </a:ext>
            </a:extLst>
          </p:cNvPr>
          <p:cNvSpPr txBox="1"/>
          <p:nvPr/>
        </p:nvSpPr>
        <p:spPr>
          <a:xfrm>
            <a:off x="190919" y="1597688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GNS3</a:t>
            </a:r>
            <a:r>
              <a:rPr lang="en-US" sz="2000" dirty="0"/>
              <a:t>(Graphical Network Simulator-3)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: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6F2182ED-3D81-A6D8-07B9-F89A4D07C112}"/>
              </a:ext>
            </a:extLst>
          </p:cNvPr>
          <p:cNvSpPr txBox="1"/>
          <p:nvPr/>
        </p:nvSpPr>
        <p:spPr>
          <a:xfrm>
            <a:off x="190918" y="1966653"/>
            <a:ext cx="849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core emulation platform used to build and design the virtual network topology.</a:t>
            </a:r>
            <a:endParaRPr lang="LID4096" dirty="0"/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129D40B9-B296-1784-072A-11165860D078}"/>
              </a:ext>
            </a:extLst>
          </p:cNvPr>
          <p:cNvSpPr txBox="1"/>
          <p:nvPr/>
        </p:nvSpPr>
        <p:spPr>
          <a:xfrm>
            <a:off x="190914" y="2392638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FortiGate Firewall: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0D995C60-3269-95C9-3FAD-43D75ABEE349}"/>
              </a:ext>
            </a:extLst>
          </p:cNvPr>
          <p:cNvSpPr txBox="1"/>
          <p:nvPr/>
        </p:nvSpPr>
        <p:spPr>
          <a:xfrm>
            <a:off x="190919" y="2832814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Used for network segmentation, traffic filtering, and securely routing the attacker to the honeypot environment.</a:t>
            </a:r>
            <a:endParaRPr lang="LID4096" dirty="0"/>
          </a:p>
        </p:txBody>
      </p:sp>
      <p:pic>
        <p:nvPicPr>
          <p:cNvPr id="17" name="صورة 16">
            <a:extLst>
              <a:ext uri="{FF2B5EF4-FFF2-40B4-BE49-F238E27FC236}">
                <a16:creationId xmlns:a16="http://schemas.microsoft.com/office/drawing/2014/main" id="{E1CA6087-C924-EFED-B483-A2154489D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227" y="1675000"/>
            <a:ext cx="257211" cy="276264"/>
          </a:xfrm>
          <a:prstGeom prst="rect">
            <a:avLst/>
          </a:prstGeom>
        </p:spPr>
      </p:pic>
      <p:pic>
        <p:nvPicPr>
          <p:cNvPr id="19" name="صورة 18">
            <a:extLst>
              <a:ext uri="{FF2B5EF4-FFF2-40B4-BE49-F238E27FC236}">
                <a16:creationId xmlns:a16="http://schemas.microsoft.com/office/drawing/2014/main" id="{6694CC4E-5A6F-CA0E-0E43-257F04FD4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203" y="2439732"/>
            <a:ext cx="1428949" cy="342948"/>
          </a:xfrm>
          <a:prstGeom prst="rect">
            <a:avLst/>
          </a:prstGeom>
        </p:spPr>
      </p:pic>
      <p:sp>
        <p:nvSpPr>
          <p:cNvPr id="20" name="مربع نص 19">
            <a:extLst>
              <a:ext uri="{FF2B5EF4-FFF2-40B4-BE49-F238E27FC236}">
                <a16:creationId xmlns:a16="http://schemas.microsoft.com/office/drawing/2014/main" id="{4F2A090A-0DCC-02CC-DE7B-770B9E00867B}"/>
              </a:ext>
            </a:extLst>
          </p:cNvPr>
          <p:cNvSpPr txBox="1"/>
          <p:nvPr/>
        </p:nvSpPr>
        <p:spPr>
          <a:xfrm>
            <a:off x="190917" y="3502928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Kali-Linux: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FE53A617-39E7-F9B0-5BE3-EA0243108513}"/>
              </a:ext>
            </a:extLst>
          </p:cNvPr>
          <p:cNvSpPr txBox="1"/>
          <p:nvPr/>
        </p:nvSpPr>
        <p:spPr>
          <a:xfrm>
            <a:off x="190913" y="3906934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attacker machine used to perform simulated cyber threats and penetration testing scenarios.</a:t>
            </a:r>
            <a:endParaRPr lang="LID4096" dirty="0"/>
          </a:p>
        </p:txBody>
      </p:sp>
      <p:sp>
        <p:nvSpPr>
          <p:cNvPr id="22" name="مربع نص 21">
            <a:extLst>
              <a:ext uri="{FF2B5EF4-FFF2-40B4-BE49-F238E27FC236}">
                <a16:creationId xmlns:a16="http://schemas.microsoft.com/office/drawing/2014/main" id="{38BE6E9E-A944-8A54-E8FA-1F74C428AF62}"/>
              </a:ext>
            </a:extLst>
          </p:cNvPr>
          <p:cNvSpPr txBox="1"/>
          <p:nvPr/>
        </p:nvSpPr>
        <p:spPr>
          <a:xfrm>
            <a:off x="190909" y="4553265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Ubuntu Server (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</a:rPr>
              <a:t>Producion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/Real Host):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1223EED5-CA8B-B941-57AC-41241F247735}"/>
              </a:ext>
            </a:extLst>
          </p:cNvPr>
          <p:cNvSpPr txBox="1"/>
          <p:nvPr/>
        </p:nvSpPr>
        <p:spPr>
          <a:xfrm>
            <a:off x="190905" y="4936681"/>
            <a:ext cx="849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Represents the actual internal server that needs protection, hosting legitimate services.</a:t>
            </a:r>
            <a:endParaRPr lang="LID4096" dirty="0"/>
          </a:p>
        </p:txBody>
      </p:sp>
      <p:sp>
        <p:nvSpPr>
          <p:cNvPr id="24" name="مربع نص 23">
            <a:extLst>
              <a:ext uri="{FF2B5EF4-FFF2-40B4-BE49-F238E27FC236}">
                <a16:creationId xmlns:a16="http://schemas.microsoft.com/office/drawing/2014/main" id="{A2645D5E-B5E4-BDB8-7427-B8B9613D69F8}"/>
              </a:ext>
            </a:extLst>
          </p:cNvPr>
          <p:cNvSpPr txBox="1"/>
          <p:nvPr/>
        </p:nvSpPr>
        <p:spPr>
          <a:xfrm>
            <a:off x="236632" y="5353731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Ubuntu Server (Honeypot):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FB986DCB-A17E-A7C0-BCE7-6FB9E4B76993}"/>
              </a:ext>
            </a:extLst>
          </p:cNvPr>
          <p:cNvSpPr txBox="1"/>
          <p:nvPr/>
        </p:nvSpPr>
        <p:spPr>
          <a:xfrm>
            <a:off x="236631" y="5758856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decoy system configured with intentional vulnerabilities to attract and monitor malicious </a:t>
            </a:r>
            <a:r>
              <a:rPr lang="en-US" dirty="0" err="1"/>
              <a:t>activites</a:t>
            </a:r>
            <a:r>
              <a:rPr lang="en-US" dirty="0"/>
              <a:t>.</a:t>
            </a:r>
            <a:endParaRPr lang="LID40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1B4FAB8-2946-6214-7E84-A7E0C08E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E133E201-3A2A-2D1C-94CC-06402F8C0EBD}"/>
              </a:ext>
            </a:extLst>
          </p:cNvPr>
          <p:cNvSpPr txBox="1"/>
          <p:nvPr/>
        </p:nvSpPr>
        <p:spPr>
          <a:xfrm>
            <a:off x="566531" y="652269"/>
            <a:ext cx="80109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Network Topology &amp; Architecture</a:t>
            </a:r>
            <a:endParaRPr lang="LID4096" sz="4000" dirty="0"/>
          </a:p>
        </p:txBody>
      </p:sp>
      <p:pic>
        <p:nvPicPr>
          <p:cNvPr id="15" name="صورة 14">
            <a:extLst>
              <a:ext uri="{FF2B5EF4-FFF2-40B4-BE49-F238E27FC236}">
                <a16:creationId xmlns:a16="http://schemas.microsoft.com/office/drawing/2014/main" id="{CFA9BEF2-8AE6-DDD6-C742-C9705E53F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61" y="1496460"/>
            <a:ext cx="7563678" cy="50424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66A1E2F8-8CE8-2F0E-C79D-B99E72E01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06535F9A-7A7B-05D7-1651-1DCECCBD7C9B}"/>
              </a:ext>
            </a:extLst>
          </p:cNvPr>
          <p:cNvSpPr txBox="1"/>
          <p:nvPr/>
        </p:nvSpPr>
        <p:spPr>
          <a:xfrm>
            <a:off x="566531" y="652269"/>
            <a:ext cx="8010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IP Addressing &amp; Connectivity Verification</a:t>
            </a:r>
            <a:endParaRPr lang="LID4096" sz="3200" dirty="0"/>
          </a:p>
        </p:txBody>
      </p:sp>
      <p:graphicFrame>
        <p:nvGraphicFramePr>
          <p:cNvPr id="14" name="جدول 13">
            <a:extLst>
              <a:ext uri="{FF2B5EF4-FFF2-40B4-BE49-F238E27FC236}">
                <a16:creationId xmlns:a16="http://schemas.microsoft.com/office/drawing/2014/main" id="{8E24F0BE-FA79-029D-674A-DF8371DAE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991854"/>
              </p:ext>
            </p:extLst>
          </p:nvPr>
        </p:nvGraphicFramePr>
        <p:xfrm>
          <a:off x="914400" y="1396999"/>
          <a:ext cx="7295320" cy="3552689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459064">
                  <a:extLst>
                    <a:ext uri="{9D8B030D-6E8A-4147-A177-3AD203B41FA5}">
                      <a16:colId xmlns:a16="http://schemas.microsoft.com/office/drawing/2014/main" val="51893163"/>
                    </a:ext>
                  </a:extLst>
                </a:gridCol>
                <a:gridCol w="1459064">
                  <a:extLst>
                    <a:ext uri="{9D8B030D-6E8A-4147-A177-3AD203B41FA5}">
                      <a16:colId xmlns:a16="http://schemas.microsoft.com/office/drawing/2014/main" val="1175878341"/>
                    </a:ext>
                  </a:extLst>
                </a:gridCol>
                <a:gridCol w="1514724">
                  <a:extLst>
                    <a:ext uri="{9D8B030D-6E8A-4147-A177-3AD203B41FA5}">
                      <a16:colId xmlns:a16="http://schemas.microsoft.com/office/drawing/2014/main" val="2191801524"/>
                    </a:ext>
                  </a:extLst>
                </a:gridCol>
                <a:gridCol w="1403404">
                  <a:extLst>
                    <a:ext uri="{9D8B030D-6E8A-4147-A177-3AD203B41FA5}">
                      <a16:colId xmlns:a16="http://schemas.microsoft.com/office/drawing/2014/main" val="791501805"/>
                    </a:ext>
                  </a:extLst>
                </a:gridCol>
                <a:gridCol w="1459064">
                  <a:extLst>
                    <a:ext uri="{9D8B030D-6E8A-4147-A177-3AD203B41FA5}">
                      <a16:colId xmlns:a16="http://schemas.microsoft.com/office/drawing/2014/main" val="4009964912"/>
                    </a:ext>
                  </a:extLst>
                </a:gridCol>
              </a:tblGrid>
              <a:tr h="5075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Device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Interface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IP Address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Zone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501529"/>
                  </a:ext>
                </a:extLst>
              </a:tr>
              <a:tr h="507527">
                <a:tc>
                  <a:txBody>
                    <a:bodyPr/>
                    <a:lstStyle/>
                    <a:p>
                      <a:r>
                        <a:rPr lang="en-US" dirty="0"/>
                        <a:t>Kali </a:t>
                      </a:r>
                      <a:r>
                        <a:rPr lang="en-US" dirty="0" err="1"/>
                        <a:t>linux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192.168.1.10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Attacker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338031"/>
                  </a:ext>
                </a:extLst>
              </a:tr>
              <a:tr h="507527">
                <a:tc>
                  <a:txBody>
                    <a:bodyPr/>
                    <a:lstStyle/>
                    <a:p>
                      <a:r>
                        <a:rPr lang="en-US" dirty="0"/>
                        <a:t>FortiGate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Port1 WAN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192.168.1.1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Gateway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145906"/>
                  </a:ext>
                </a:extLst>
              </a:tr>
              <a:tr h="507527">
                <a:tc>
                  <a:txBody>
                    <a:bodyPr/>
                    <a:lstStyle/>
                    <a:p>
                      <a:r>
                        <a:rPr lang="en-US" dirty="0"/>
                        <a:t>FortiGate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Port2 LAN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10.0.0.1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Gateway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24075"/>
                  </a:ext>
                </a:extLst>
              </a:tr>
              <a:tr h="507527">
                <a:tc>
                  <a:txBody>
                    <a:bodyPr/>
                    <a:lstStyle/>
                    <a:p>
                      <a:r>
                        <a:rPr lang="en-US" dirty="0"/>
                        <a:t>FortiGate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Port3 Wan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192.168.122.1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Internet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090260"/>
                  </a:ext>
                </a:extLst>
              </a:tr>
              <a:tr h="507527">
                <a:tc>
                  <a:txBody>
                    <a:bodyPr/>
                    <a:lstStyle/>
                    <a:p>
                      <a:r>
                        <a:rPr lang="en-US" dirty="0"/>
                        <a:t>Honeypot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ens3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10.0.0.10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Decoy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190678"/>
                  </a:ext>
                </a:extLst>
              </a:tr>
              <a:tr h="507527">
                <a:tc>
                  <a:txBody>
                    <a:bodyPr/>
                    <a:lstStyle/>
                    <a:p>
                      <a:r>
                        <a:rPr lang="en-US" dirty="0"/>
                        <a:t>Real Server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ens3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10.0.0.20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Protected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0721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4D3ED6F-77B6-EDFF-AB6D-55CE9AA5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43DE6C03-7E95-D793-7355-017A45E6987A}"/>
              </a:ext>
            </a:extLst>
          </p:cNvPr>
          <p:cNvSpPr txBox="1"/>
          <p:nvPr/>
        </p:nvSpPr>
        <p:spPr>
          <a:xfrm>
            <a:off x="566531" y="602574"/>
            <a:ext cx="8010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IP Addressing &amp; Connectivity Verification</a:t>
            </a:r>
            <a:endParaRPr lang="LID4096" sz="3200" dirty="0"/>
          </a:p>
        </p:txBody>
      </p:sp>
      <p:pic>
        <p:nvPicPr>
          <p:cNvPr id="13" name="صورة 12">
            <a:extLst>
              <a:ext uri="{FF2B5EF4-FFF2-40B4-BE49-F238E27FC236}">
                <a16:creationId xmlns:a16="http://schemas.microsoft.com/office/drawing/2014/main" id="{6EBA66A6-4E5F-356E-AB2D-826FF41E2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382" y="1346413"/>
            <a:ext cx="4082418" cy="2022433"/>
          </a:xfrm>
          <a:prstGeom prst="rect">
            <a:avLst/>
          </a:prstGeom>
        </p:spPr>
      </p:pic>
      <p:sp>
        <p:nvSpPr>
          <p:cNvPr id="14" name="مربع نص 13">
            <a:extLst>
              <a:ext uri="{FF2B5EF4-FFF2-40B4-BE49-F238E27FC236}">
                <a16:creationId xmlns:a16="http://schemas.microsoft.com/office/drawing/2014/main" id="{FAC423B7-9E48-3E36-6C5A-4950C4BDACD0}"/>
              </a:ext>
            </a:extLst>
          </p:cNvPr>
          <p:cNvSpPr txBox="1"/>
          <p:nvPr/>
        </p:nvSpPr>
        <p:spPr>
          <a:xfrm>
            <a:off x="4604382" y="3607904"/>
            <a:ext cx="3973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Ping to FortiGate From Kali-Linux</a:t>
            </a:r>
            <a:endParaRPr lang="LID4096" sz="2000" b="1" dirty="0"/>
          </a:p>
        </p:txBody>
      </p:sp>
      <p:pic>
        <p:nvPicPr>
          <p:cNvPr id="16" name="صورة 15">
            <a:extLst>
              <a:ext uri="{FF2B5EF4-FFF2-40B4-BE49-F238E27FC236}">
                <a16:creationId xmlns:a16="http://schemas.microsoft.com/office/drawing/2014/main" id="{72887932-EB8E-E269-B3DF-910FF68FE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15" y="1346413"/>
            <a:ext cx="3974654" cy="2078794"/>
          </a:xfrm>
          <a:prstGeom prst="rect">
            <a:avLst/>
          </a:prstGeom>
        </p:spPr>
      </p:pic>
      <p:sp>
        <p:nvSpPr>
          <p:cNvPr id="17" name="مربع نص 16">
            <a:extLst>
              <a:ext uri="{FF2B5EF4-FFF2-40B4-BE49-F238E27FC236}">
                <a16:creationId xmlns:a16="http://schemas.microsoft.com/office/drawing/2014/main" id="{ED07A022-CB1B-EDB1-958E-29ECE7770FC7}"/>
              </a:ext>
            </a:extLst>
          </p:cNvPr>
          <p:cNvSpPr txBox="1"/>
          <p:nvPr/>
        </p:nvSpPr>
        <p:spPr>
          <a:xfrm>
            <a:off x="313815" y="3593883"/>
            <a:ext cx="3973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Ping to Honeypot From Kali-Linux</a:t>
            </a:r>
            <a:endParaRPr lang="LID4096" sz="20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7B8CAC7-8B51-07F2-C7DD-9CD16DE1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701123DF-0038-982E-2CDC-D24300AAAAA2}"/>
              </a:ext>
            </a:extLst>
          </p:cNvPr>
          <p:cNvSpPr txBox="1"/>
          <p:nvPr/>
        </p:nvSpPr>
        <p:spPr>
          <a:xfrm>
            <a:off x="566531" y="473365"/>
            <a:ext cx="80109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FortiGate Configuration:</a:t>
            </a:r>
          </a:p>
          <a:p>
            <a:pPr algn="ctr"/>
            <a:r>
              <a:rPr lang="en-US" sz="3200" dirty="0"/>
              <a:t>Traffic Control &amp; Port Forwarding</a:t>
            </a:r>
            <a:endParaRPr lang="LID4096" sz="3200" dirty="0"/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35077A11-7002-7269-DBE2-F138E1FF8B82}"/>
              </a:ext>
            </a:extLst>
          </p:cNvPr>
          <p:cNvSpPr txBox="1"/>
          <p:nvPr/>
        </p:nvSpPr>
        <p:spPr>
          <a:xfrm>
            <a:off x="190919" y="1597688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1.Virtual IP &amp; Destination NAT (The Trap)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D7F516AD-912F-E924-EFA1-DA71EED81C15}"/>
              </a:ext>
            </a:extLst>
          </p:cNvPr>
          <p:cNvSpPr txBox="1"/>
          <p:nvPr/>
        </p:nvSpPr>
        <p:spPr>
          <a:xfrm>
            <a:off x="181973" y="2016414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Action:</a:t>
            </a:r>
            <a:r>
              <a:rPr lang="en-US" dirty="0"/>
              <a:t> Configured a Virtual IP (VIP) to map the external firewall address (192.168.1.134) to the internal Honeypot IP (10.0.0.2) on Port 2222.</a:t>
            </a:r>
            <a:endParaRPr lang="LID4096" b="1" dirty="0"/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D7BF68D9-4427-8DF6-D4F2-2DD1295BA907}"/>
              </a:ext>
            </a:extLst>
          </p:cNvPr>
          <p:cNvSpPr txBox="1"/>
          <p:nvPr/>
        </p:nvSpPr>
        <p:spPr>
          <a:xfrm>
            <a:off x="181972" y="2663854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Purpose:</a:t>
            </a:r>
            <a:r>
              <a:rPr lang="en-US" dirty="0"/>
              <a:t> To transparently redirect all external SSH connection attempts directly into the Cowrie Honeypot service, which listens on Port 2222.</a:t>
            </a:r>
            <a:endParaRPr lang="LID4096" b="1" dirty="0"/>
          </a:p>
        </p:txBody>
      </p:sp>
      <p:pic>
        <p:nvPicPr>
          <p:cNvPr id="16" name="صورة 15">
            <a:extLst>
              <a:ext uri="{FF2B5EF4-FFF2-40B4-BE49-F238E27FC236}">
                <a16:creationId xmlns:a16="http://schemas.microsoft.com/office/drawing/2014/main" id="{76DF2124-6624-A9E0-D0FD-8648F7264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19" y="3423318"/>
            <a:ext cx="6696898" cy="2819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122BA76-34B2-B6BE-D736-ED907559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AAD790E2-1C98-4877-EAA4-54BBC2481BBC}"/>
              </a:ext>
            </a:extLst>
          </p:cNvPr>
          <p:cNvSpPr txBox="1"/>
          <p:nvPr/>
        </p:nvSpPr>
        <p:spPr>
          <a:xfrm>
            <a:off x="566531" y="473365"/>
            <a:ext cx="80109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FortiGate Configuration:</a:t>
            </a:r>
          </a:p>
          <a:p>
            <a:pPr algn="ctr"/>
            <a:r>
              <a:rPr lang="en-US" sz="3200" dirty="0"/>
              <a:t>Traffic Control &amp; Port Forwarding</a:t>
            </a:r>
            <a:endParaRPr lang="LID4096" sz="3200" dirty="0"/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D34E0909-2158-862D-B603-E7467B8AEB79}"/>
              </a:ext>
            </a:extLst>
          </p:cNvPr>
          <p:cNvSpPr txBox="1"/>
          <p:nvPr/>
        </p:nvSpPr>
        <p:spPr>
          <a:xfrm>
            <a:off x="190919" y="1597688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2.Security Policy Enforcement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81537A7F-07A7-5A55-3DFD-C72A7B43DA81}"/>
              </a:ext>
            </a:extLst>
          </p:cNvPr>
          <p:cNvSpPr txBox="1"/>
          <p:nvPr/>
        </p:nvSpPr>
        <p:spPr>
          <a:xfrm>
            <a:off x="181973" y="2016414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Action:</a:t>
            </a:r>
            <a:r>
              <a:rPr lang="en-US" dirty="0"/>
              <a:t> Implemented a specific IPv4 policy to allow traffic from the Attacker (WAN) to the Honeypot (DMZ) using the defined VIP.</a:t>
            </a:r>
            <a:endParaRPr lang="LID4096" b="1" dirty="0"/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05C6BEFA-9ADC-E66B-F448-43BDD8817DD3}"/>
              </a:ext>
            </a:extLst>
          </p:cNvPr>
          <p:cNvSpPr txBox="1"/>
          <p:nvPr/>
        </p:nvSpPr>
        <p:spPr>
          <a:xfrm>
            <a:off x="181972" y="2663854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Purpose:</a:t>
            </a:r>
            <a:r>
              <a:rPr lang="en-US" dirty="0"/>
              <a:t> To ensure that any external interaction is strictly contained within the decoy system, leaving the production network completely invisible.</a:t>
            </a:r>
            <a:endParaRPr lang="LID4096" b="1" dirty="0"/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53E34014-13E8-F6FC-1E5E-D11F9A3FDC14}"/>
              </a:ext>
            </a:extLst>
          </p:cNvPr>
          <p:cNvSpPr txBox="1"/>
          <p:nvPr/>
        </p:nvSpPr>
        <p:spPr>
          <a:xfrm>
            <a:off x="232165" y="3320485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3.Outbound Connectivity (NAT Policy)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" name="مربع نص 15">
            <a:extLst>
              <a:ext uri="{FF2B5EF4-FFF2-40B4-BE49-F238E27FC236}">
                <a16:creationId xmlns:a16="http://schemas.microsoft.com/office/drawing/2014/main" id="{F7B276D3-CA8F-88B2-04C9-FDEE4F914304}"/>
              </a:ext>
            </a:extLst>
          </p:cNvPr>
          <p:cNvSpPr txBox="1"/>
          <p:nvPr/>
        </p:nvSpPr>
        <p:spPr>
          <a:xfrm>
            <a:off x="232164" y="3720595"/>
            <a:ext cx="849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Action:</a:t>
            </a:r>
            <a:r>
              <a:rPr lang="en-US" dirty="0"/>
              <a:t> Enabled a NAT-based policy for the Honeypot zone to access the internet (Port 3).</a:t>
            </a:r>
            <a:endParaRPr lang="LID4096" b="1" dirty="0"/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F96DA4C5-460B-28EB-78A8-AC7C4AD15C22}"/>
              </a:ext>
            </a:extLst>
          </p:cNvPr>
          <p:cNvSpPr txBox="1"/>
          <p:nvPr/>
        </p:nvSpPr>
        <p:spPr>
          <a:xfrm>
            <a:off x="257261" y="4103634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Purpose:</a:t>
            </a:r>
            <a:r>
              <a:rPr lang="en-US" dirty="0"/>
              <a:t> To allow the system to fetch necessary updates, Cowrie dependencies, and Python libraries for the real-time dashboard.</a:t>
            </a:r>
            <a:endParaRPr lang="LID4096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012ED03-5EE9-C0B2-27A9-393C6C807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6451447D-D7A4-43E4-6B83-1886B03C1202}"/>
              </a:ext>
            </a:extLst>
          </p:cNvPr>
          <p:cNvSpPr txBox="1"/>
          <p:nvPr/>
        </p:nvSpPr>
        <p:spPr>
          <a:xfrm>
            <a:off x="566531" y="473365"/>
            <a:ext cx="80109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FortiGate Configuration:</a:t>
            </a:r>
          </a:p>
          <a:p>
            <a:pPr algn="ctr"/>
            <a:r>
              <a:rPr lang="en-US" sz="3200" dirty="0"/>
              <a:t>Traffic Control &amp; Port Forwarding</a:t>
            </a:r>
            <a:endParaRPr lang="LID4096" sz="3200" dirty="0"/>
          </a:p>
        </p:txBody>
      </p:sp>
      <p:pic>
        <p:nvPicPr>
          <p:cNvPr id="13" name="صورة 12">
            <a:extLst>
              <a:ext uri="{FF2B5EF4-FFF2-40B4-BE49-F238E27FC236}">
                <a16:creationId xmlns:a16="http://schemas.microsoft.com/office/drawing/2014/main" id="{529C5D1A-C8BA-90F0-3085-1D2F8729F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435" y="1749628"/>
            <a:ext cx="4494474" cy="4971848"/>
          </a:xfrm>
          <a:prstGeom prst="rect">
            <a:avLst/>
          </a:prstGeom>
        </p:spPr>
      </p:pic>
      <p:pic>
        <p:nvPicPr>
          <p:cNvPr id="15" name="صورة 14">
            <a:extLst>
              <a:ext uri="{FF2B5EF4-FFF2-40B4-BE49-F238E27FC236}">
                <a16:creationId xmlns:a16="http://schemas.microsoft.com/office/drawing/2014/main" id="{4F3A4771-12BC-5B8F-4F1F-3A76C55F9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65" y="1923719"/>
            <a:ext cx="3866539" cy="38255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19E02F9-C656-F2EA-566E-3835BB4E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E975EFB1-C171-DDE1-779A-E359728FD3E7}"/>
              </a:ext>
            </a:extLst>
          </p:cNvPr>
          <p:cNvSpPr txBox="1"/>
          <p:nvPr/>
        </p:nvSpPr>
        <p:spPr>
          <a:xfrm>
            <a:off x="566531" y="473365"/>
            <a:ext cx="80109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Honeypot Core:</a:t>
            </a:r>
          </a:p>
          <a:p>
            <a:pPr algn="ctr"/>
            <a:r>
              <a:rPr lang="en-US" sz="3200" dirty="0"/>
              <a:t>Introduction to Cowrie</a:t>
            </a: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4DF12BB0-A0F6-170F-4421-90D9710CA5AC}"/>
              </a:ext>
            </a:extLst>
          </p:cNvPr>
          <p:cNvSpPr txBox="1"/>
          <p:nvPr/>
        </p:nvSpPr>
        <p:spPr>
          <a:xfrm>
            <a:off x="190919" y="1597688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Definition: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D58D0528-3681-4A53-CBAF-65C2B77ECCFD}"/>
              </a:ext>
            </a:extLst>
          </p:cNvPr>
          <p:cNvSpPr txBox="1"/>
          <p:nvPr/>
        </p:nvSpPr>
        <p:spPr>
          <a:xfrm>
            <a:off x="181973" y="2016414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Cowrie is a medium-to-high interaction SSH and Telnet honeypot designed to log brute force attacks and shell interaction.</a:t>
            </a:r>
            <a:endParaRPr lang="LID4096" b="1" dirty="0"/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2C9F4ED8-5B67-2207-A970-DAD6E6FC50FC}"/>
              </a:ext>
            </a:extLst>
          </p:cNvPr>
          <p:cNvSpPr txBox="1"/>
          <p:nvPr/>
        </p:nvSpPr>
        <p:spPr>
          <a:xfrm>
            <a:off x="181973" y="2656152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Deception Mechanism: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2E2DC552-1215-1A33-C2E0-B151783DA713}"/>
              </a:ext>
            </a:extLst>
          </p:cNvPr>
          <p:cNvSpPr txBox="1"/>
          <p:nvPr/>
        </p:nvSpPr>
        <p:spPr>
          <a:xfrm>
            <a:off x="181972" y="3049669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Cowrie is a medium-to-high interaction SSH and Telnet honeypot designed to log brute force attacks and shell interaction.</a:t>
            </a:r>
            <a:endParaRPr lang="LID4096" b="1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924E2D74-3043-1274-620D-43F533669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a fake filesystem and shell environment that mimics a real Linux system to deceive attackers.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LID4096" alt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4F7BBF03-A0A4-F460-F797-EDEEB42DD57A}"/>
              </a:ext>
            </a:extLst>
          </p:cNvPr>
          <p:cNvSpPr txBox="1"/>
          <p:nvPr/>
        </p:nvSpPr>
        <p:spPr>
          <a:xfrm>
            <a:off x="181971" y="3718337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Key Features: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مربع نص 17">
            <a:extLst>
              <a:ext uri="{FF2B5EF4-FFF2-40B4-BE49-F238E27FC236}">
                <a16:creationId xmlns:a16="http://schemas.microsoft.com/office/drawing/2014/main" id="{3989F253-5884-9528-67BF-0AD2ADC7ADAD}"/>
              </a:ext>
            </a:extLst>
          </p:cNvPr>
          <p:cNvSpPr txBox="1"/>
          <p:nvPr/>
        </p:nvSpPr>
        <p:spPr>
          <a:xfrm>
            <a:off x="181973" y="4105261"/>
            <a:ext cx="8495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Saves sessions in a format that can be replayed later.</a:t>
            </a:r>
          </a:p>
          <a:p>
            <a:pPr lvl="1"/>
            <a:r>
              <a:rPr lang="en-US" dirty="0"/>
              <a:t>Captures downloaded files and malware for analysis.</a:t>
            </a:r>
          </a:p>
          <a:p>
            <a:pPr lvl="1"/>
            <a:r>
              <a:rPr lang="en-US" dirty="0"/>
              <a:t>Detailed logging of every command executed by the attacker.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6F6A6D41-212C-EAA9-4FDD-D3BBAA11F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9102326D-E68E-0E2C-36ED-DFED74BB3229}"/>
              </a:ext>
            </a:extLst>
          </p:cNvPr>
          <p:cNvSpPr txBox="1"/>
          <p:nvPr/>
        </p:nvSpPr>
        <p:spPr>
          <a:xfrm>
            <a:off x="566531" y="473365"/>
            <a:ext cx="8010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Why Cowrie? &amp; Project Objectives</a:t>
            </a: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EA7A60BE-79D2-45C0-BFFD-F0B0E5D1BF90}"/>
              </a:ext>
            </a:extLst>
          </p:cNvPr>
          <p:cNvSpPr txBox="1"/>
          <p:nvPr/>
        </p:nvSpPr>
        <p:spPr>
          <a:xfrm>
            <a:off x="181973" y="1397633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Medium Interaction Advantage: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A9427E09-33C0-7DDB-2752-6D86E0D22D6F}"/>
              </a:ext>
            </a:extLst>
          </p:cNvPr>
          <p:cNvSpPr txBox="1"/>
          <p:nvPr/>
        </p:nvSpPr>
        <p:spPr>
          <a:xfrm>
            <a:off x="181972" y="1797743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offers more than just an open port; it allows the attacker to log in and interact, providing deeper insights into their behavior.</a:t>
            </a:r>
            <a:endParaRPr lang="LID4096" b="1" dirty="0"/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1981D4B2-0C6B-ACAE-C4A5-91A9F1AD75FE}"/>
              </a:ext>
            </a:extLst>
          </p:cNvPr>
          <p:cNvSpPr txBox="1"/>
          <p:nvPr/>
        </p:nvSpPr>
        <p:spPr>
          <a:xfrm>
            <a:off x="181971" y="2444074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Safe Isolation: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690EAFEA-F746-8B26-A9D3-827099760E31}"/>
              </a:ext>
            </a:extLst>
          </p:cNvPr>
          <p:cNvSpPr txBox="1"/>
          <p:nvPr/>
        </p:nvSpPr>
        <p:spPr>
          <a:xfrm>
            <a:off x="181970" y="2844184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Combined with FortiGate, Cowrie ensures the attacker is trapped in a controlled environment without any risk to the real network.</a:t>
            </a:r>
            <a:endParaRPr lang="LID4096" b="1" dirty="0"/>
          </a:p>
        </p:txBody>
      </p:sp>
      <p:sp>
        <p:nvSpPr>
          <p:cNvPr id="16" name="مربع نص 15">
            <a:extLst>
              <a:ext uri="{FF2B5EF4-FFF2-40B4-BE49-F238E27FC236}">
                <a16:creationId xmlns:a16="http://schemas.microsoft.com/office/drawing/2014/main" id="{0DEEF615-DCD5-C26F-FB0D-FD4772913176}"/>
              </a:ext>
            </a:extLst>
          </p:cNvPr>
          <p:cNvSpPr txBox="1"/>
          <p:nvPr/>
        </p:nvSpPr>
        <p:spPr>
          <a:xfrm>
            <a:off x="181969" y="3490515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Threat Intelligence: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0384F2C9-37ED-00AE-96A1-F97CF13BC5F4}"/>
              </a:ext>
            </a:extLst>
          </p:cNvPr>
          <p:cNvSpPr txBox="1"/>
          <p:nvPr/>
        </p:nvSpPr>
        <p:spPr>
          <a:xfrm>
            <a:off x="181968" y="3813680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helps in identifying the common passwords, usernames, and tools used by attackers in real-time.</a:t>
            </a:r>
            <a:endParaRPr lang="LID4096" b="1" dirty="0"/>
          </a:p>
        </p:txBody>
      </p:sp>
      <p:sp>
        <p:nvSpPr>
          <p:cNvPr id="18" name="مربع نص 17">
            <a:extLst>
              <a:ext uri="{FF2B5EF4-FFF2-40B4-BE49-F238E27FC236}">
                <a16:creationId xmlns:a16="http://schemas.microsoft.com/office/drawing/2014/main" id="{A09F2094-F50C-29E3-23A1-5DE0F5412D3F}"/>
              </a:ext>
            </a:extLst>
          </p:cNvPr>
          <p:cNvSpPr txBox="1"/>
          <p:nvPr/>
        </p:nvSpPr>
        <p:spPr>
          <a:xfrm>
            <a:off x="181967" y="4431604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Customization: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مربع نص 18">
            <a:extLst>
              <a:ext uri="{FF2B5EF4-FFF2-40B4-BE49-F238E27FC236}">
                <a16:creationId xmlns:a16="http://schemas.microsoft.com/office/drawing/2014/main" id="{915EE83D-F065-A338-0203-35696FBB69B9}"/>
              </a:ext>
            </a:extLst>
          </p:cNvPr>
          <p:cNvSpPr txBox="1"/>
          <p:nvPr/>
        </p:nvSpPr>
        <p:spPr>
          <a:xfrm>
            <a:off x="181966" y="4831714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Its Python-based architecture allowed for easy integration with our custom monitoring dashboard</a:t>
            </a:r>
            <a:endParaRPr lang="LID4096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1E48891-F081-C92A-43EA-AAAF9B621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93B83F79-3307-1FE4-77DB-3823A012663E}"/>
              </a:ext>
            </a:extLst>
          </p:cNvPr>
          <p:cNvSpPr txBox="1"/>
          <p:nvPr/>
        </p:nvSpPr>
        <p:spPr>
          <a:xfrm>
            <a:off x="566531" y="473365"/>
            <a:ext cx="8010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Implementation: Cowrie Installation &amp; Configuration</a:t>
            </a: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F2473BB9-B7A7-0A64-52F4-CE2B56685ECF}"/>
              </a:ext>
            </a:extLst>
          </p:cNvPr>
          <p:cNvSpPr txBox="1"/>
          <p:nvPr/>
        </p:nvSpPr>
        <p:spPr>
          <a:xfrm>
            <a:off x="181973" y="1293939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Environment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</a:rPr>
              <a:t>Prepatation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: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8DDC0544-02D1-71B0-B939-F532E2964852}"/>
              </a:ext>
            </a:extLst>
          </p:cNvPr>
          <p:cNvSpPr txBox="1"/>
          <p:nvPr/>
        </p:nvSpPr>
        <p:spPr>
          <a:xfrm>
            <a:off x="181972" y="1684622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Installed essential Python dependencies and cloned the Cowrie repository to the Honeypot server.</a:t>
            </a:r>
            <a:endParaRPr lang="LID4096" b="1" dirty="0"/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9B831805-30A4-D842-A3DB-7460F598188E}"/>
              </a:ext>
            </a:extLst>
          </p:cNvPr>
          <p:cNvSpPr txBox="1"/>
          <p:nvPr/>
        </p:nvSpPr>
        <p:spPr>
          <a:xfrm>
            <a:off x="181971" y="2330953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Service Customization: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F6B3885B-3BA7-1B1C-9B5C-6762FB4AA6BC}"/>
              </a:ext>
            </a:extLst>
          </p:cNvPr>
          <p:cNvSpPr txBox="1"/>
          <p:nvPr/>
        </p:nvSpPr>
        <p:spPr>
          <a:xfrm>
            <a:off x="181970" y="2730052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Configured </a:t>
            </a:r>
            <a:r>
              <a:rPr lang="en-US" dirty="0" err="1"/>
              <a:t>cowrie.cfg</a:t>
            </a:r>
            <a:r>
              <a:rPr lang="en-US" dirty="0"/>
              <a:t> to simulate a real server environment and set the service to listen on Port 2222</a:t>
            </a:r>
            <a:endParaRPr lang="LID4096" b="1" dirty="0"/>
          </a:p>
        </p:txBody>
      </p:sp>
      <p:sp>
        <p:nvSpPr>
          <p:cNvPr id="16" name="مربع نص 15">
            <a:extLst>
              <a:ext uri="{FF2B5EF4-FFF2-40B4-BE49-F238E27FC236}">
                <a16:creationId xmlns:a16="http://schemas.microsoft.com/office/drawing/2014/main" id="{2FBB12E6-045D-7A8E-0BE2-53BEB8ADBDFE}"/>
              </a:ext>
            </a:extLst>
          </p:cNvPr>
          <p:cNvSpPr txBox="1"/>
          <p:nvPr/>
        </p:nvSpPr>
        <p:spPr>
          <a:xfrm>
            <a:off x="181969" y="3374233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</a:rPr>
              <a:t>Exicution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: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7B814567-C53B-917A-9CAD-E3AFD5927E50}"/>
              </a:ext>
            </a:extLst>
          </p:cNvPr>
          <p:cNvSpPr txBox="1"/>
          <p:nvPr/>
        </p:nvSpPr>
        <p:spPr>
          <a:xfrm>
            <a:off x="181968" y="3768074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Started the service within an isolated virtual environment to capture redirected SSH traffic safely.</a:t>
            </a:r>
            <a:endParaRPr lang="LID4096" b="1" dirty="0"/>
          </a:p>
        </p:txBody>
      </p:sp>
      <p:pic>
        <p:nvPicPr>
          <p:cNvPr id="19" name="صورة 18">
            <a:extLst>
              <a:ext uri="{FF2B5EF4-FFF2-40B4-BE49-F238E27FC236}">
                <a16:creationId xmlns:a16="http://schemas.microsoft.com/office/drawing/2014/main" id="{ABF73195-B2C4-27C8-C9EC-923EF86FE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8" y="5604627"/>
            <a:ext cx="4892464" cy="289585"/>
          </a:xfrm>
          <a:prstGeom prst="rect">
            <a:avLst/>
          </a:prstGeom>
        </p:spPr>
      </p:pic>
      <p:sp>
        <p:nvSpPr>
          <p:cNvPr id="20" name="مربع نص 19">
            <a:extLst>
              <a:ext uri="{FF2B5EF4-FFF2-40B4-BE49-F238E27FC236}">
                <a16:creationId xmlns:a16="http://schemas.microsoft.com/office/drawing/2014/main" id="{5E2EB5CD-AE54-DE47-9207-D5A3E02D5256}"/>
              </a:ext>
            </a:extLst>
          </p:cNvPr>
          <p:cNvSpPr txBox="1"/>
          <p:nvPr/>
        </p:nvSpPr>
        <p:spPr>
          <a:xfrm>
            <a:off x="181973" y="4888298"/>
            <a:ext cx="5021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is how it would look like when you successfully installed it.</a:t>
            </a:r>
            <a:endParaRPr lang="LID4096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FE1C9A2-21FB-DABC-0C16-BAF0853E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66BE4CC9-2364-E301-2D4A-39990674E57E}"/>
              </a:ext>
            </a:extLst>
          </p:cNvPr>
          <p:cNvSpPr txBox="1"/>
          <p:nvPr/>
        </p:nvSpPr>
        <p:spPr>
          <a:xfrm>
            <a:off x="566531" y="473365"/>
            <a:ext cx="8010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Attack Phase 1: Reconnaissance &amp; Scanning</a:t>
            </a: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AD8F5AEA-A9EA-CF52-75CF-670B39A5F01D}"/>
              </a:ext>
            </a:extLst>
          </p:cNvPr>
          <p:cNvSpPr txBox="1"/>
          <p:nvPr/>
        </p:nvSpPr>
        <p:spPr>
          <a:xfrm>
            <a:off x="181973" y="1293939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Tool Used: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Nmap (Network Mapper).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5856C9B5-26D2-AAAE-05D3-F6733F95D561}"/>
              </a:ext>
            </a:extLst>
          </p:cNvPr>
          <p:cNvSpPr txBox="1"/>
          <p:nvPr/>
        </p:nvSpPr>
        <p:spPr>
          <a:xfrm>
            <a:off x="181972" y="1646394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Action: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attacker scans the target external IP (192.168.1.1) for open ports.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91C92910-3EA3-B203-D2D8-0DD97699A8DC}"/>
              </a:ext>
            </a:extLst>
          </p:cNvPr>
          <p:cNvSpPr txBox="1"/>
          <p:nvPr/>
        </p:nvSpPr>
        <p:spPr>
          <a:xfrm>
            <a:off x="181971" y="1995441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Result: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Port 22 (SSH) is discovered open.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E9217A4C-5B18-E62D-1B25-5FCABCB118A5}"/>
              </a:ext>
            </a:extLst>
          </p:cNvPr>
          <p:cNvSpPr txBox="1"/>
          <p:nvPr/>
        </p:nvSpPr>
        <p:spPr>
          <a:xfrm>
            <a:off x="181970" y="2375870"/>
            <a:ext cx="8495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Impact: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attacker is successfully deceived into targeting the honeypot instead of the real production server, Thanks to FortiGate VIP rules.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7" name="صورة 16">
            <a:extLst>
              <a:ext uri="{FF2B5EF4-FFF2-40B4-BE49-F238E27FC236}">
                <a16:creationId xmlns:a16="http://schemas.microsoft.com/office/drawing/2014/main" id="{673407DC-2247-6357-23B3-3646DBE13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9" y="3464185"/>
            <a:ext cx="7407503" cy="301926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" name="حبر 19">
                <a:extLst>
                  <a:ext uri="{FF2B5EF4-FFF2-40B4-BE49-F238E27FC236}">
                    <a16:creationId xmlns:a16="http://schemas.microsoft.com/office/drawing/2014/main" id="{CB12578A-18DC-3B76-8EC5-6492FB094511}"/>
                  </a:ext>
                </a:extLst>
              </p14:cNvPr>
              <p14:cNvContentPartPr/>
              <p14:nvPr/>
            </p14:nvContentPartPr>
            <p14:xfrm>
              <a:off x="216757" y="4958265"/>
              <a:ext cx="1669680" cy="720"/>
            </p14:xfrm>
          </p:contentPart>
        </mc:Choice>
        <mc:Fallback>
          <p:pic>
            <p:nvPicPr>
              <p:cNvPr id="20" name="حبر 19">
                <a:extLst>
                  <a:ext uri="{FF2B5EF4-FFF2-40B4-BE49-F238E27FC236}">
                    <a16:creationId xmlns:a16="http://schemas.microsoft.com/office/drawing/2014/main" id="{CB12578A-18DC-3B76-8EC5-6492FB0945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0277" y="4946025"/>
                <a:ext cx="16819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" name="حبر 21">
                <a:extLst>
                  <a:ext uri="{FF2B5EF4-FFF2-40B4-BE49-F238E27FC236}">
                    <a16:creationId xmlns:a16="http://schemas.microsoft.com/office/drawing/2014/main" id="{FE90B563-5F60-2ED7-7219-53B729E8F4D9}"/>
                  </a:ext>
                </a:extLst>
              </p14:cNvPr>
              <p14:cNvContentPartPr/>
              <p14:nvPr/>
            </p14:nvContentPartPr>
            <p14:xfrm>
              <a:off x="1894357" y="4798065"/>
              <a:ext cx="19800" cy="160560"/>
            </p14:xfrm>
          </p:contentPart>
        </mc:Choice>
        <mc:Fallback>
          <p:pic>
            <p:nvPicPr>
              <p:cNvPr id="22" name="حبر 21">
                <a:extLst>
                  <a:ext uri="{FF2B5EF4-FFF2-40B4-BE49-F238E27FC236}">
                    <a16:creationId xmlns:a16="http://schemas.microsoft.com/office/drawing/2014/main" id="{FE90B563-5F60-2ED7-7219-53B729E8F4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88237" y="4791945"/>
                <a:ext cx="3204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4" name="حبر 23">
                <a:extLst>
                  <a:ext uri="{FF2B5EF4-FFF2-40B4-BE49-F238E27FC236}">
                    <a16:creationId xmlns:a16="http://schemas.microsoft.com/office/drawing/2014/main" id="{1A3060CE-142F-B7C0-354E-95FDF4E438EE}"/>
                  </a:ext>
                </a:extLst>
              </p14:cNvPr>
              <p14:cNvContentPartPr/>
              <p14:nvPr/>
            </p14:nvContentPartPr>
            <p14:xfrm>
              <a:off x="159157" y="4798065"/>
              <a:ext cx="1754640" cy="720"/>
            </p14:xfrm>
          </p:contentPart>
        </mc:Choice>
        <mc:Fallback>
          <p:pic>
            <p:nvPicPr>
              <p:cNvPr id="24" name="حبر 23">
                <a:extLst>
                  <a:ext uri="{FF2B5EF4-FFF2-40B4-BE49-F238E27FC236}">
                    <a16:creationId xmlns:a16="http://schemas.microsoft.com/office/drawing/2014/main" id="{1A3060CE-142F-B7C0-354E-95FDF4E438E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3037" y="4785105"/>
                <a:ext cx="17668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8" name="حبر 27">
                <a:extLst>
                  <a:ext uri="{FF2B5EF4-FFF2-40B4-BE49-F238E27FC236}">
                    <a16:creationId xmlns:a16="http://schemas.microsoft.com/office/drawing/2014/main" id="{8291E57B-A0BD-AD87-C8B3-4DFB78F285DE}"/>
                  </a:ext>
                </a:extLst>
              </p14:cNvPr>
              <p14:cNvContentPartPr/>
              <p14:nvPr/>
            </p14:nvContentPartPr>
            <p14:xfrm>
              <a:off x="111997" y="4826145"/>
              <a:ext cx="104760" cy="133920"/>
            </p14:xfrm>
          </p:contentPart>
        </mc:Choice>
        <mc:Fallback>
          <p:pic>
            <p:nvPicPr>
              <p:cNvPr id="28" name="حبر 27">
                <a:extLst>
                  <a:ext uri="{FF2B5EF4-FFF2-40B4-BE49-F238E27FC236}">
                    <a16:creationId xmlns:a16="http://schemas.microsoft.com/office/drawing/2014/main" id="{8291E57B-A0BD-AD87-C8B3-4DFB78F285D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5877" y="4820025"/>
                <a:ext cx="11700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9" name="حبر 28">
                <a:extLst>
                  <a:ext uri="{FF2B5EF4-FFF2-40B4-BE49-F238E27FC236}">
                    <a16:creationId xmlns:a16="http://schemas.microsoft.com/office/drawing/2014/main" id="{8FFA45A4-87B9-5ABE-3ABA-2FA21F37E11E}"/>
                  </a:ext>
                </a:extLst>
              </p14:cNvPr>
              <p14:cNvContentPartPr/>
              <p14:nvPr/>
            </p14:nvContentPartPr>
            <p14:xfrm>
              <a:off x="-1621763" y="4119105"/>
              <a:ext cx="360" cy="360"/>
            </p14:xfrm>
          </p:contentPart>
        </mc:Choice>
        <mc:Fallback>
          <p:pic>
            <p:nvPicPr>
              <p:cNvPr id="29" name="حبر 28">
                <a:extLst>
                  <a:ext uri="{FF2B5EF4-FFF2-40B4-BE49-F238E27FC236}">
                    <a16:creationId xmlns:a16="http://schemas.microsoft.com/office/drawing/2014/main" id="{8FFA45A4-87B9-5ABE-3ABA-2FA21F37E11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1627883" y="4112985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676823CB-840F-0FA1-5968-95714486B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5FE888A9-6C49-77F4-C808-88168A0954F4}"/>
              </a:ext>
            </a:extLst>
          </p:cNvPr>
          <p:cNvSpPr txBox="1"/>
          <p:nvPr/>
        </p:nvSpPr>
        <p:spPr>
          <a:xfrm>
            <a:off x="566531" y="473365"/>
            <a:ext cx="8010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Attack Phase 2: Exploitation </a:t>
            </a:r>
          </a:p>
          <a:p>
            <a:pPr algn="ctr"/>
            <a:r>
              <a:rPr lang="en-US" sz="2800" dirty="0"/>
              <a:t>(Manual &amp;Automated)</a:t>
            </a: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5427007A-6F8F-F8C8-8F0A-F2AE242D9CFC}"/>
              </a:ext>
            </a:extLst>
          </p:cNvPr>
          <p:cNvSpPr txBox="1"/>
          <p:nvPr/>
        </p:nvSpPr>
        <p:spPr>
          <a:xfrm>
            <a:off x="236639" y="1493994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Attack vector 1: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Manual SSH Access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6B38B175-CA50-011B-AA29-D299B6072C6C}"/>
              </a:ext>
            </a:extLst>
          </p:cNvPr>
          <p:cNvSpPr txBox="1"/>
          <p:nvPr/>
        </p:nvSpPr>
        <p:spPr>
          <a:xfrm>
            <a:off x="236639" y="1859111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Action:</a:t>
            </a:r>
            <a:r>
              <a:rPr lang="en-US" dirty="0"/>
              <a:t> The attacker attempts direct manual login using default administrative credentials(e.g. ssh </a:t>
            </a:r>
            <a:r>
              <a:rPr lang="en-US" dirty="0" err="1"/>
              <a:t>root@target</a:t>
            </a:r>
            <a:r>
              <a:rPr lang="en-US" dirty="0"/>
              <a:t> ).</a:t>
            </a:r>
            <a:endParaRPr lang="LID4096" b="1" dirty="0"/>
          </a:p>
        </p:txBody>
      </p:sp>
      <p:pic>
        <p:nvPicPr>
          <p:cNvPr id="15" name="صورة 14">
            <a:extLst>
              <a:ext uri="{FF2B5EF4-FFF2-40B4-BE49-F238E27FC236}">
                <a16:creationId xmlns:a16="http://schemas.microsoft.com/office/drawing/2014/main" id="{7D676E88-E25B-04B4-1053-14545180D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19" y="2505442"/>
            <a:ext cx="6586954" cy="2518050"/>
          </a:xfrm>
          <a:prstGeom prst="rect">
            <a:avLst/>
          </a:prstGeom>
        </p:spPr>
      </p:pic>
      <p:sp>
        <p:nvSpPr>
          <p:cNvPr id="16" name="مربع نص 15">
            <a:extLst>
              <a:ext uri="{FF2B5EF4-FFF2-40B4-BE49-F238E27FC236}">
                <a16:creationId xmlns:a16="http://schemas.microsoft.com/office/drawing/2014/main" id="{927878FA-1D91-1792-6874-B36B76A67C7F}"/>
              </a:ext>
            </a:extLst>
          </p:cNvPr>
          <p:cNvSpPr txBox="1"/>
          <p:nvPr/>
        </p:nvSpPr>
        <p:spPr>
          <a:xfrm>
            <a:off x="181973" y="5155758"/>
            <a:ext cx="8495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Conclusion: </a:t>
            </a:r>
            <a:r>
              <a:rPr lang="en-US" dirty="0"/>
              <a:t>The FortiGate VIP rule successfully intercepted the external SSH request and forwarded it silently to the Honeypot environment.</a:t>
            </a:r>
          </a:p>
          <a:p>
            <a:r>
              <a:rPr lang="en-US" dirty="0"/>
              <a:t>The appearance of the password: prompt confirms that the attacker is now directly interacting with the Cowrie service, completely isolated from the real network.</a:t>
            </a:r>
            <a:endParaRPr lang="LID4096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A7B5487-55C8-52EE-0A9C-E2E464CD4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CC6CBF48-3B46-26E1-707F-484062C29D29}"/>
              </a:ext>
            </a:extLst>
          </p:cNvPr>
          <p:cNvSpPr txBox="1"/>
          <p:nvPr/>
        </p:nvSpPr>
        <p:spPr>
          <a:xfrm>
            <a:off x="566531" y="473365"/>
            <a:ext cx="8010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Attack Phase 2: Exploitation </a:t>
            </a:r>
          </a:p>
          <a:p>
            <a:pPr algn="ctr"/>
            <a:r>
              <a:rPr lang="en-US" sz="2800" dirty="0"/>
              <a:t>(Manual &amp;Automated)</a:t>
            </a: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1E86E4C9-57B1-B49E-F5F9-DCF573D6EDF7}"/>
              </a:ext>
            </a:extLst>
          </p:cNvPr>
          <p:cNvSpPr txBox="1"/>
          <p:nvPr/>
        </p:nvSpPr>
        <p:spPr>
          <a:xfrm>
            <a:off x="236639" y="1493994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Attack vector 2: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Automated Brute-Force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3D15BFE0-566E-5CED-304E-752E7C02B891}"/>
              </a:ext>
            </a:extLst>
          </p:cNvPr>
          <p:cNvSpPr txBox="1"/>
          <p:nvPr/>
        </p:nvSpPr>
        <p:spPr>
          <a:xfrm>
            <a:off x="236639" y="1859111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Action:</a:t>
            </a:r>
            <a:r>
              <a:rPr lang="en-US" dirty="0"/>
              <a:t> Lunching a dictionary attack against the SSH service using the Hydra tool and </a:t>
            </a:r>
            <a:r>
              <a:rPr lang="en-US" dirty="0" err="1"/>
              <a:t>rockyou</a:t>
            </a:r>
            <a:r>
              <a:rPr lang="en-US" dirty="0"/>
              <a:t> wordlist.</a:t>
            </a:r>
            <a:endParaRPr lang="LID4096" b="1" dirty="0"/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9FF2556D-D05B-54BA-1E24-B4E13E0D21D0}"/>
              </a:ext>
            </a:extLst>
          </p:cNvPr>
          <p:cNvSpPr txBox="1"/>
          <p:nvPr/>
        </p:nvSpPr>
        <p:spPr>
          <a:xfrm>
            <a:off x="236638" y="2505442"/>
            <a:ext cx="84958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What is ‘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</a:rPr>
              <a:t>Rockyou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’?: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rockyou.txt is a famous wordlist containing over 14 million real-world leaked passwords. It is heavily used in penetration testing to simulate realistic dictionary attacks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6" name="صورة 15">
            <a:extLst>
              <a:ext uri="{FF2B5EF4-FFF2-40B4-BE49-F238E27FC236}">
                <a16:creationId xmlns:a16="http://schemas.microsoft.com/office/drawing/2014/main" id="{897034ED-3DF6-EBE2-ABB6-8863025DB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17" y="3521105"/>
            <a:ext cx="6073666" cy="3025402"/>
          </a:xfrm>
          <a:prstGeom prst="rect">
            <a:avLst/>
          </a:prstGeom>
        </p:spPr>
      </p:pic>
      <p:sp>
        <p:nvSpPr>
          <p:cNvPr id="17" name="مربع نص 16">
            <a:extLst>
              <a:ext uri="{FF2B5EF4-FFF2-40B4-BE49-F238E27FC236}">
                <a16:creationId xmlns:a16="http://schemas.microsoft.com/office/drawing/2014/main" id="{C2A4E9E6-705A-557A-4701-4B7AA7239C3D}"/>
              </a:ext>
            </a:extLst>
          </p:cNvPr>
          <p:cNvSpPr txBox="1"/>
          <p:nvPr/>
        </p:nvSpPr>
        <p:spPr>
          <a:xfrm>
            <a:off x="6264584" y="3430094"/>
            <a:ext cx="24679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Result: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Hydra successfully 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identified valid passwords, </a:t>
            </a: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Cowrie intentionally accepts these to let the attacker in.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  </a:t>
            </a:r>
            <a:endParaRPr lang="LID4096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AC276DF-1BA4-E6C5-C9BB-216C497B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4F5DEC02-E510-B697-6E29-48DFF8553FE6}"/>
              </a:ext>
            </a:extLst>
          </p:cNvPr>
          <p:cNvSpPr txBox="1"/>
          <p:nvPr/>
        </p:nvSpPr>
        <p:spPr>
          <a:xfrm>
            <a:off x="566531" y="473365"/>
            <a:ext cx="8010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Attack Phase 3: </a:t>
            </a:r>
          </a:p>
          <a:p>
            <a:pPr algn="ctr"/>
            <a:r>
              <a:rPr lang="en-US" sz="2800" dirty="0"/>
              <a:t>Post-Exploitation &amp; Honeypot Interaction </a:t>
            </a: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0078289A-54C4-1AF2-BCF1-806E6E0638A2}"/>
              </a:ext>
            </a:extLst>
          </p:cNvPr>
          <p:cNvSpPr txBox="1"/>
          <p:nvPr/>
        </p:nvSpPr>
        <p:spPr>
          <a:xfrm>
            <a:off x="236639" y="1493994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The illusion of Success: 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2247B8B1-AF63-C2BA-59FA-02C03B10B9BB}"/>
              </a:ext>
            </a:extLst>
          </p:cNvPr>
          <p:cNvSpPr txBox="1"/>
          <p:nvPr/>
        </p:nvSpPr>
        <p:spPr>
          <a:xfrm>
            <a:off x="236639" y="1859111"/>
            <a:ext cx="84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Once the attacker logs in, Cowrie provides a fully interactive “Fake Shell” that perfectly mimics a real ubuntu server</a:t>
            </a:r>
            <a:endParaRPr lang="LID4096" dirty="0"/>
          </a:p>
        </p:txBody>
      </p:sp>
      <p:pic>
        <p:nvPicPr>
          <p:cNvPr id="15" name="صورة 14">
            <a:extLst>
              <a:ext uri="{FF2B5EF4-FFF2-40B4-BE49-F238E27FC236}">
                <a16:creationId xmlns:a16="http://schemas.microsoft.com/office/drawing/2014/main" id="{69A0245F-96C9-CAC0-A98D-92159B7DD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39" y="2514868"/>
            <a:ext cx="6081287" cy="387919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9782448-0B8A-8D18-603B-25575CF6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47E73F5C-820E-36ED-6500-FBA11E53DA6B}"/>
              </a:ext>
            </a:extLst>
          </p:cNvPr>
          <p:cNvSpPr txBox="1"/>
          <p:nvPr/>
        </p:nvSpPr>
        <p:spPr>
          <a:xfrm>
            <a:off x="566531" y="473365"/>
            <a:ext cx="8010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Attack Phase 3: </a:t>
            </a:r>
          </a:p>
          <a:p>
            <a:pPr algn="ctr"/>
            <a:r>
              <a:rPr lang="en-US" sz="2800" dirty="0"/>
              <a:t>Post-Exploitation &amp; Honeypot Interaction </a:t>
            </a: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33EF3DD6-AF1D-00B2-522F-A74D00842AC6}"/>
              </a:ext>
            </a:extLst>
          </p:cNvPr>
          <p:cNvSpPr txBox="1"/>
          <p:nvPr/>
        </p:nvSpPr>
        <p:spPr>
          <a:xfrm>
            <a:off x="236639" y="1633032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Attacker Activity (Simulated):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8C4BF377-36D9-A616-933E-06A35B1E902F}"/>
              </a:ext>
            </a:extLst>
          </p:cNvPr>
          <p:cNvSpPr txBox="1"/>
          <p:nvPr/>
        </p:nvSpPr>
        <p:spPr>
          <a:xfrm>
            <a:off x="236639" y="2033142"/>
            <a:ext cx="84958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System Reconnaissance:</a:t>
            </a:r>
            <a:r>
              <a:rPr lang="en-US" dirty="0"/>
              <a:t> The attacker runs </a:t>
            </a:r>
            <a:r>
              <a:rPr lang="en-US" dirty="0" err="1"/>
              <a:t>whoami</a:t>
            </a:r>
            <a:r>
              <a:rPr lang="en-US" dirty="0"/>
              <a:t> (returns 'root') and ls -la to explore the file system</a:t>
            </a:r>
          </a:p>
          <a:p>
            <a:endParaRPr lang="en-US" b="1" dirty="0"/>
          </a:p>
          <a:p>
            <a:r>
              <a:rPr lang="en-US" b="1" dirty="0"/>
              <a:t>Malware Downloading:</a:t>
            </a:r>
            <a:r>
              <a:rPr lang="en-US" dirty="0"/>
              <a:t> The attacker executes </a:t>
            </a:r>
            <a:r>
              <a:rPr lang="en-US" dirty="0" err="1"/>
              <a:t>wget</a:t>
            </a:r>
            <a:r>
              <a:rPr lang="en-US" dirty="0"/>
              <a:t> http://google.com to test internet connectivity and download files</a:t>
            </a:r>
          </a:p>
        </p:txBody>
      </p:sp>
      <p:sp>
        <p:nvSpPr>
          <p:cNvPr id="16" name="مربع نص 15">
            <a:extLst>
              <a:ext uri="{FF2B5EF4-FFF2-40B4-BE49-F238E27FC236}">
                <a16:creationId xmlns:a16="http://schemas.microsoft.com/office/drawing/2014/main" id="{310143FB-358F-B7FA-C6EE-9FBB30E29A88}"/>
              </a:ext>
            </a:extLst>
          </p:cNvPr>
          <p:cNvSpPr txBox="1"/>
          <p:nvPr/>
        </p:nvSpPr>
        <p:spPr>
          <a:xfrm>
            <a:off x="236639" y="3618625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The Trap in Action: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933802D0-A70C-6AFF-269E-41F83998CE74}"/>
              </a:ext>
            </a:extLst>
          </p:cNvPr>
          <p:cNvSpPr txBox="1"/>
          <p:nvPr/>
        </p:nvSpPr>
        <p:spPr>
          <a:xfrm>
            <a:off x="236637" y="4018735"/>
            <a:ext cx="8495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attacker believes they have full control over the production server, but all actions are sandboxed, isolated, and safely recorded by the honeypot</a:t>
            </a:r>
            <a:endParaRPr lang="LID4096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F55DE8A-CA28-0711-92B8-55A7FBAA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E114C237-878F-0225-7FD5-EA4AD8D26308}"/>
              </a:ext>
            </a:extLst>
          </p:cNvPr>
          <p:cNvSpPr txBox="1"/>
          <p:nvPr/>
        </p:nvSpPr>
        <p:spPr>
          <a:xfrm>
            <a:off x="566531" y="473365"/>
            <a:ext cx="8010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Attack Phase 4: </a:t>
            </a:r>
          </a:p>
          <a:p>
            <a:pPr algn="ctr"/>
            <a:r>
              <a:rPr lang="en-US" sz="2800" dirty="0"/>
              <a:t>Raw Data Collection &amp; Logging </a:t>
            </a:r>
          </a:p>
        </p:txBody>
      </p:sp>
      <p:sp>
        <p:nvSpPr>
          <p:cNvPr id="16" name="مربع نص 15">
            <a:extLst>
              <a:ext uri="{FF2B5EF4-FFF2-40B4-BE49-F238E27FC236}">
                <a16:creationId xmlns:a16="http://schemas.microsoft.com/office/drawing/2014/main" id="{66CA382F-2F4D-4AE2-A326-BEA137513A73}"/>
              </a:ext>
            </a:extLst>
          </p:cNvPr>
          <p:cNvSpPr txBox="1"/>
          <p:nvPr/>
        </p:nvSpPr>
        <p:spPr>
          <a:xfrm>
            <a:off x="236639" y="1633032"/>
            <a:ext cx="8495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Session Capture: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Cowrie successfully logs every incoming connection, recording the attacker’s source IP (192.168.1.10) and port.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476C910A-BD7B-6C27-63AB-F5001DEAC138}"/>
              </a:ext>
            </a:extLst>
          </p:cNvPr>
          <p:cNvSpPr txBox="1"/>
          <p:nvPr/>
        </p:nvSpPr>
        <p:spPr>
          <a:xfrm>
            <a:off x="236638" y="2432241"/>
            <a:ext cx="8495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Credential Harvesting: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logs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explicity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show the captured brute-force login attempts and the exact passwords used (e.g. 123456789, password).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مربع نص 17">
            <a:extLst>
              <a:ext uri="{FF2B5EF4-FFF2-40B4-BE49-F238E27FC236}">
                <a16:creationId xmlns:a16="http://schemas.microsoft.com/office/drawing/2014/main" id="{908FB9D8-67CD-91A1-B3E8-68B3BC47AD00}"/>
              </a:ext>
            </a:extLst>
          </p:cNvPr>
          <p:cNvSpPr txBox="1"/>
          <p:nvPr/>
        </p:nvSpPr>
        <p:spPr>
          <a:xfrm>
            <a:off x="236639" y="3241143"/>
            <a:ext cx="8495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Command Tracking: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Every executed command (like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wget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ls –la, and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whoami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 recorded in real-time, providing the effectiveness of the interactive fake shell.</a:t>
            </a:r>
            <a:endParaRPr lang="LID4096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مربع نص 18">
            <a:extLst>
              <a:ext uri="{FF2B5EF4-FFF2-40B4-BE49-F238E27FC236}">
                <a16:creationId xmlns:a16="http://schemas.microsoft.com/office/drawing/2014/main" id="{6985B406-DF04-E28F-A702-DC3CF1EAFAEE}"/>
              </a:ext>
            </a:extLst>
          </p:cNvPr>
          <p:cNvSpPr txBox="1"/>
          <p:nvPr/>
        </p:nvSpPr>
        <p:spPr>
          <a:xfrm>
            <a:off x="236639" y="4090860"/>
            <a:ext cx="8495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The Challenge: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While comprehensive, analyzing thousands of lines of raw terminal logs is highly inefficient for rapid threat response.</a:t>
            </a:r>
            <a:endParaRPr lang="LID4096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0" name="مربع نص 19">
            <a:extLst>
              <a:ext uri="{FF2B5EF4-FFF2-40B4-BE49-F238E27FC236}">
                <a16:creationId xmlns:a16="http://schemas.microsoft.com/office/drawing/2014/main" id="{BD65AEEC-09BD-C39A-1528-B03BA2CF622A}"/>
              </a:ext>
            </a:extLst>
          </p:cNvPr>
          <p:cNvSpPr txBox="1"/>
          <p:nvPr/>
        </p:nvSpPr>
        <p:spPr>
          <a:xfrm>
            <a:off x="236639" y="5306578"/>
            <a:ext cx="849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IN THE NEXT PAGE YOU’LL SEE COWRIE LOGS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27DD9-18C1-6E06-D3C8-D896A0037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4893FE-B312-B01F-E4AC-3631497B2AD6}"/>
              </a:ext>
            </a:extLst>
          </p:cNvPr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4FD713-30A5-5A45-8A89-477B4FB53FA8}"/>
              </a:ext>
            </a:extLst>
          </p:cNvPr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927431D-2456-E848-9642-3B4320FC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569DACD0-F2FD-3B1B-2E06-08C6B54C8053}"/>
              </a:ext>
            </a:extLst>
          </p:cNvPr>
          <p:cNvSpPr txBox="1"/>
          <p:nvPr/>
        </p:nvSpPr>
        <p:spPr>
          <a:xfrm>
            <a:off x="566531" y="473365"/>
            <a:ext cx="8010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Attack Phase 4: </a:t>
            </a:r>
          </a:p>
          <a:p>
            <a:pPr algn="ctr"/>
            <a:r>
              <a:rPr lang="en-US" sz="2800" dirty="0"/>
              <a:t>Raw Data Collection &amp; Logging </a:t>
            </a:r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75A757C6-9060-00C7-2130-8A1E6C71C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914" y="2067552"/>
            <a:ext cx="4163326" cy="3876048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CF1436EB-23F5-2099-8254-60BB12284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6" y="2067552"/>
            <a:ext cx="4450261" cy="387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08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53C48-5632-84F2-98B2-62A419900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A19939-3F20-DD76-2BD8-4A6B998D608B}"/>
              </a:ext>
            </a:extLst>
          </p:cNvPr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DD31F0-6B3C-42FA-A897-F6F09D0859B0}"/>
              </a:ext>
            </a:extLst>
          </p:cNvPr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DA50868-C848-F34E-8AF7-E5FFD5636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FC5132AF-D70C-B666-4EB6-3BDAAE072366}"/>
              </a:ext>
            </a:extLst>
          </p:cNvPr>
          <p:cNvSpPr txBox="1"/>
          <p:nvPr/>
        </p:nvSpPr>
        <p:spPr>
          <a:xfrm>
            <a:off x="566531" y="473365"/>
            <a:ext cx="8010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Phase 5: The Solution</a:t>
            </a:r>
          </a:p>
          <a:p>
            <a:pPr algn="ctr"/>
            <a:r>
              <a:rPr lang="en-US" sz="2800" dirty="0"/>
              <a:t>Custom Web Dashboard 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87F923E2-EEDC-4FE2-DB35-8C2D4DFA5771}"/>
              </a:ext>
            </a:extLst>
          </p:cNvPr>
          <p:cNvSpPr txBox="1"/>
          <p:nvPr/>
        </p:nvSpPr>
        <p:spPr>
          <a:xfrm>
            <a:off x="236639" y="1633032"/>
            <a:ext cx="8495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The Concept: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Develpoed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 Custom Python-based web application to bridge the gap between raw terminal logs and human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alalysis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1837AF74-6D6A-BB92-9D47-B062F05EA2BF}"/>
              </a:ext>
            </a:extLst>
          </p:cNvPr>
          <p:cNvSpPr txBox="1"/>
          <p:nvPr/>
        </p:nvSpPr>
        <p:spPr>
          <a:xfrm>
            <a:off x="236638" y="2432241"/>
            <a:ext cx="8495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The Mechanism: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dashboard automatically parses the complex Cowrie JSON log files and presents the data in a structured, easy-to-read graphical interface.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63C71D71-8F54-85C6-8029-2500CF5BDC10}"/>
              </a:ext>
            </a:extLst>
          </p:cNvPr>
          <p:cNvSpPr txBox="1"/>
          <p:nvPr/>
        </p:nvSpPr>
        <p:spPr>
          <a:xfrm>
            <a:off x="236637" y="3203710"/>
            <a:ext cx="8495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The Goal: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provide security administrators with a clear, real-time overview of the threat landscape, enabling faster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inicident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response.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0" name="صورة 9">
            <a:extLst>
              <a:ext uri="{FF2B5EF4-FFF2-40B4-BE49-F238E27FC236}">
                <a16:creationId xmlns:a16="http://schemas.microsoft.com/office/drawing/2014/main" id="{217A2594-477E-8532-40C2-7F8E1BF28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50" y="4002920"/>
            <a:ext cx="3918250" cy="2718556"/>
          </a:xfrm>
          <a:prstGeom prst="rect">
            <a:avLst/>
          </a:prstGeom>
        </p:spPr>
      </p:pic>
      <p:pic>
        <p:nvPicPr>
          <p:cNvPr id="12" name="صورة 11">
            <a:extLst>
              <a:ext uri="{FF2B5EF4-FFF2-40B4-BE49-F238E27FC236}">
                <a16:creationId xmlns:a16="http://schemas.microsoft.com/office/drawing/2014/main" id="{81405475-271B-FEEB-C7DC-1915B1EBF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0" y="3975179"/>
            <a:ext cx="4695459" cy="286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3118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56BF5-A2BC-3A2E-7F9E-13B1AC171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A5B44C-19EE-793E-96D2-82359DA5C6E7}"/>
              </a:ext>
            </a:extLst>
          </p:cNvPr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2FB619-5800-EA1C-5E97-4D3EE02E3414}"/>
              </a:ext>
            </a:extLst>
          </p:cNvPr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CA823F9-E1C2-1652-DB54-0A9160CBF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5581B544-3A71-8411-2C44-A693B1A8FCE6}"/>
              </a:ext>
            </a:extLst>
          </p:cNvPr>
          <p:cNvSpPr txBox="1"/>
          <p:nvPr/>
        </p:nvSpPr>
        <p:spPr>
          <a:xfrm>
            <a:off x="566531" y="473365"/>
            <a:ext cx="8010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Phase 5: The Solution</a:t>
            </a:r>
          </a:p>
          <a:p>
            <a:pPr algn="ctr"/>
            <a:r>
              <a:rPr lang="en-US" sz="2800" dirty="0"/>
              <a:t>Custom Web Dashboard </a:t>
            </a:r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BC1865FD-3572-BB20-3FC4-6F9598093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31" y="2218966"/>
            <a:ext cx="7767687" cy="4502509"/>
          </a:xfrm>
          <a:prstGeom prst="rect">
            <a:avLst/>
          </a:prstGeom>
        </p:spPr>
      </p:pic>
      <p:sp>
        <p:nvSpPr>
          <p:cNvPr id="8" name="مربع نص 7">
            <a:extLst>
              <a:ext uri="{FF2B5EF4-FFF2-40B4-BE49-F238E27FC236}">
                <a16:creationId xmlns:a16="http://schemas.microsoft.com/office/drawing/2014/main" id="{75649C5D-ADF8-459A-D796-94625756E94E}"/>
              </a:ext>
            </a:extLst>
          </p:cNvPr>
          <p:cNvSpPr txBox="1"/>
          <p:nvPr/>
        </p:nvSpPr>
        <p:spPr>
          <a:xfrm>
            <a:off x="2174813" y="1746154"/>
            <a:ext cx="4335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Here is a real-time test for the website 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399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685800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4C805F0-546B-2FF0-83B8-99CFEC6CF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914946E3-438F-7B8C-DE05-43A6A2702E4A}"/>
              </a:ext>
            </a:extLst>
          </p:cNvPr>
          <p:cNvSpPr txBox="1"/>
          <p:nvPr/>
        </p:nvSpPr>
        <p:spPr>
          <a:xfrm>
            <a:off x="566531" y="473365"/>
            <a:ext cx="8010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Conclusion &amp; Project </a:t>
            </a:r>
            <a:r>
              <a:rPr lang="en-US" sz="2800" dirty="0" err="1"/>
              <a:t>Imapct</a:t>
            </a:r>
            <a:r>
              <a:rPr lang="en-US" sz="2800" dirty="0"/>
              <a:t> </a:t>
            </a: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7145F3C8-8FD5-EB12-0F18-3F95DC72FD30}"/>
              </a:ext>
            </a:extLst>
          </p:cNvPr>
          <p:cNvSpPr txBox="1"/>
          <p:nvPr/>
        </p:nvSpPr>
        <p:spPr>
          <a:xfrm>
            <a:off x="190919" y="1397362"/>
            <a:ext cx="8495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Network Isolation: </a:t>
            </a:r>
            <a:r>
              <a:rPr lang="en-US" sz="2000" dirty="0"/>
              <a:t>Successfully secured the production network by isolating threats inside a controlled DMZ using FortiGate VIP rules.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2C934B4A-1159-9C26-6D03-E15197B83420}"/>
              </a:ext>
            </a:extLst>
          </p:cNvPr>
          <p:cNvSpPr txBox="1"/>
          <p:nvPr/>
        </p:nvSpPr>
        <p:spPr>
          <a:xfrm>
            <a:off x="181973" y="2253506"/>
            <a:ext cx="8495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Active Deception: </a:t>
            </a:r>
            <a:r>
              <a:rPr lang="en-US" sz="2000" dirty="0"/>
              <a:t>Cowrie effectively trapped attackers, capturing real-time brute-force attempts, IP addresses, and post-exploitation behavior.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B916C7F3-8813-7D21-C34D-C9CF851B86DA}"/>
              </a:ext>
            </a:extLst>
          </p:cNvPr>
          <p:cNvSpPr txBox="1"/>
          <p:nvPr/>
        </p:nvSpPr>
        <p:spPr>
          <a:xfrm>
            <a:off x="181973" y="3065463"/>
            <a:ext cx="8495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Actionable Intelligence: </a:t>
            </a:r>
            <a:r>
              <a:rPr lang="en-US" sz="2000" dirty="0"/>
              <a:t>Successfully transformed raw, complex terminal logs into a clear, visual web dashboard for rapid threat analysis.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BC78C07A-AD5B-F27F-B791-BED8620BA9A4}"/>
              </a:ext>
            </a:extLst>
          </p:cNvPr>
          <p:cNvSpPr txBox="1"/>
          <p:nvPr/>
        </p:nvSpPr>
        <p:spPr>
          <a:xfrm>
            <a:off x="181972" y="3863100"/>
            <a:ext cx="8495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End-to-End Security: </a:t>
            </a:r>
            <a:r>
              <a:rPr lang="en-US" sz="2000" dirty="0"/>
              <a:t>Demonstrated a complete lifecycle from network design (GNS3) and firewall defense, to active monitoring and data visualization.</a:t>
            </a:r>
            <a:endParaRPr lang="LID4096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0F6F0892-AE85-679A-FA1E-3FC0B5F07CC2}"/>
              </a:ext>
            </a:extLst>
          </p:cNvPr>
          <p:cNvSpPr txBox="1"/>
          <p:nvPr/>
        </p:nvSpPr>
        <p:spPr>
          <a:xfrm>
            <a:off x="2026763" y="5533534"/>
            <a:ext cx="5052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50000"/>
                  </a:schemeClr>
                </a:solidFill>
              </a:rPr>
              <a:t>T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hank you!</a:t>
            </a:r>
            <a:endParaRPr lang="LID4096" sz="4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1513</Words>
  <Application>Microsoft Office PowerPoint</Application>
  <PresentationFormat>عرض على الشاشة (4:3)</PresentationFormat>
  <Paragraphs>200</Paragraphs>
  <Slides>23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Honeypot Network System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Omar Badarin</cp:lastModifiedBy>
  <cp:revision>4</cp:revision>
  <dcterms:created xsi:type="dcterms:W3CDTF">2013-01-27T09:14:16Z</dcterms:created>
  <dcterms:modified xsi:type="dcterms:W3CDTF">2026-04-19T16:23:32Z</dcterms:modified>
  <cp:category/>
</cp:coreProperties>
</file>